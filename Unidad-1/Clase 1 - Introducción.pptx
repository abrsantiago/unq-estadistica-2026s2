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Nunito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i4RA3jExX4oO3uC9eOzimqAFlF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regular.fntdata"/><Relationship Id="rId25" Type="http://schemas.openxmlformats.org/officeDocument/2006/relationships/slide" Target="slides/slide21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7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6.xml"/><Relationship Id="rId32" Type="http://schemas.openxmlformats.org/officeDocument/2006/relationships/font" Target="fonts/Nunito-italic.fntdata"/><Relationship Id="rId13" Type="http://schemas.openxmlformats.org/officeDocument/2006/relationships/slide" Target="slides/slide9.xml"/><Relationship Id="rId35" Type="http://schemas.openxmlformats.org/officeDocument/2006/relationships/font" Target="fonts/Lato-bold.fntdata"/><Relationship Id="rId12" Type="http://schemas.openxmlformats.org/officeDocument/2006/relationships/slide" Target="slides/slide8.xml"/><Relationship Id="rId34" Type="http://schemas.openxmlformats.org/officeDocument/2006/relationships/font" Target="fonts/Lato-regular.fntdata"/><Relationship Id="rId15" Type="http://schemas.openxmlformats.org/officeDocument/2006/relationships/slide" Target="slides/slide11.xml"/><Relationship Id="rId37" Type="http://schemas.openxmlformats.org/officeDocument/2006/relationships/font" Target="fonts/Lato-boldItalic.fntdata"/><Relationship Id="rId14" Type="http://schemas.openxmlformats.org/officeDocument/2006/relationships/slide" Target="slides/slide10.xml"/><Relationship Id="rId36" Type="http://schemas.openxmlformats.org/officeDocument/2006/relationships/font" Target="fonts/Lato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419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38124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400" strike="noStrike">
                <a:latin typeface="Calibri"/>
                <a:ea typeface="Calibri"/>
                <a:cs typeface="Calibri"/>
                <a:sym typeface="Calibri"/>
              </a:rPr>
              <a:t>El método científico y la experimentación requieren que uno prevea los datos con los cuales va a trabajar, las variables a controlar y las incertidumbres que se desprenden de ellas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400" strike="noStrike">
                <a:latin typeface="Calibri"/>
                <a:ea typeface="Calibri"/>
                <a:cs typeface="Calibri"/>
                <a:sym typeface="Calibri"/>
              </a:rPr>
              <a:t>Y eso se basa en nuestra capacidad finita de analizar una población o sistema complejo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400" strike="noStrike">
                <a:latin typeface="Calibri"/>
                <a:ea typeface="Calibri"/>
                <a:cs typeface="Calibri"/>
                <a:sym typeface="Calibri"/>
              </a:rPr>
              <a:t>Para eso estadística, para que lo que hacemos y decimos tenga un sustento contrastable y repetible. Y saber que en cierto porcentaje somos falible en nuestras deducciones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400" strike="noStrike">
                <a:latin typeface="Calibri"/>
                <a:ea typeface="Calibri"/>
                <a:cs typeface="Calibri"/>
                <a:sym typeface="Calibri"/>
              </a:rPr>
              <a:t>De lo que nos salva es del sesgo y para eso debemos tener clara la hipótesis antes de iniciar con las pruebas preliminares para poder sacar conclusiones de nuestros objetivos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6661db18d9_0_196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g36661db18d9_0_196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6" name="Google Shape;16;g36661db18d9_0_196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6661db18d9_0_196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g36661db18d9_0_196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" name="Google Shape;19;g36661db18d9_0_196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g36661db18d9_0_196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6661db18d9_0_197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3" name="Google Shape;23;g36661db18d9_0_19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6661db18d9_0_19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g36661db18d9_0_197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g36661db18d9_0_197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6661db18d9_0_197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g36661db18d9_0_197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0" name="Google Shape;30;g36661db18d9_0_197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6661db18d9_0_197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g36661db18d9_0_197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3" name="Google Shape;33;g36661db18d9_0_197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g36661db18d9_0_197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6661db18d9_0_198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g36661db18d9_0_198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8" name="Google Shape;38;g36661db18d9_0_198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g36661db18d9_0_198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g36661db18d9_0_198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1" name="Google Shape;41;g36661db18d9_0_198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g36661db18d9_0_198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g36661db18d9_0_198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6661db18d9_0_199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g36661db18d9_0_199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g36661db18d9_0_199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6661db18d9_0_199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g36661db18d9_0_199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" name="Google Shape;50;g36661db18d9_0_199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661db18d9_0_200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g36661db18d9_0_200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4" name="Google Shape;54;g36661db18d9_0_200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6661db18d9_0_200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g36661db18d9_0_2001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7" name="Google Shape;57;g36661db18d9_0_2001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g36661db18d9_0_200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36661db18d9_0_200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1" name="Google Shape;61;g36661db18d9_0_200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g36661db18d9_0_200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g36661db18d9_0_200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36661db18d9_0_200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661db18d9_0_20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g36661db18d9_0_20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8" name="Google Shape;68;g36661db18d9_0_20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g36661db18d9_0_20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g36661db18d9_0_20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1" name="Google Shape;71;g36661db18d9_0_20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g36661db18d9_0_20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g36661db18d9_0_20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661db18d9_0_202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6" name="Google Shape;76;g36661db18d9_0_20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g36661db18d9_0_202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9" name="Google Shape;79;g36661db18d9_0_20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6661db18d9_0_20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g36661db18d9_0_2027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g36661db18d9_0_2027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6661db18d9_0_20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661db18d9_0_20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AND_BOD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661db18d9_0_2036"/>
          <p:cNvSpPr txBox="1"/>
          <p:nvPr>
            <p:ph type="title"/>
          </p:nvPr>
        </p:nvSpPr>
        <p:spPr>
          <a:xfrm>
            <a:off x="819000" y="845640"/>
            <a:ext cx="7505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g36661db18d9_0_2036"/>
          <p:cNvSpPr txBox="1"/>
          <p:nvPr>
            <p:ph idx="1" type="subTitle"/>
          </p:nvPr>
        </p:nvSpPr>
        <p:spPr>
          <a:xfrm>
            <a:off x="819000" y="1990800"/>
            <a:ext cx="75054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1200"/>
              </a:spcBef>
              <a:spcAft>
                <a:spcPts val="12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661db18d9_0_2039"/>
          <p:cNvSpPr txBox="1"/>
          <p:nvPr>
            <p:ph type="title"/>
          </p:nvPr>
        </p:nvSpPr>
        <p:spPr>
          <a:xfrm>
            <a:off x="819000" y="845640"/>
            <a:ext cx="7505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g36661db18d9_0_2039"/>
          <p:cNvSpPr txBox="1"/>
          <p:nvPr>
            <p:ph idx="1" type="body"/>
          </p:nvPr>
        </p:nvSpPr>
        <p:spPr>
          <a:xfrm>
            <a:off x="819000" y="1990800"/>
            <a:ext cx="75054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6661db18d9_0_19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g36661db18d9_0_19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36661db18d9_0_195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311760" y="1354320"/>
            <a:ext cx="8520120" cy="107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6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Estadística</a:t>
            </a:r>
            <a:endParaRPr b="0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858680" y="2498760"/>
            <a:ext cx="5361120" cy="1024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manera de trabajar con bocha de datos</a:t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819000" y="1152360"/>
            <a:ext cx="7505280" cy="244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4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“No confíes en lo que la estadística te dice hasta haber considerado con cuidado qué es lo que no dice.”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24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William W. Watt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509400" y="491400"/>
            <a:ext cx="4023360" cy="677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30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¿Para qué estadistica?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668520" y="1282680"/>
            <a:ext cx="6298560" cy="29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052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2400"/>
              <a:buFont typeface="Calibri"/>
              <a:buChar char="●"/>
            </a:pPr>
            <a:r>
              <a:rPr b="0" i="0" lang="es-419" sz="24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Análisis de muestras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2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2400"/>
              <a:buFont typeface="Calibri"/>
              <a:buChar char="●"/>
            </a:pPr>
            <a:r>
              <a:rPr b="0" i="0" lang="es-419" sz="24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Descripción de datos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2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2400"/>
              <a:buFont typeface="Calibri"/>
              <a:buChar char="●"/>
            </a:pPr>
            <a:r>
              <a:rPr b="0" i="0" lang="es-419" sz="24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Contraste de hipótesis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52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2400"/>
              <a:buFont typeface="Calibri"/>
              <a:buChar char="●"/>
            </a:pPr>
            <a:r>
              <a:rPr b="0" i="0" lang="es-419" sz="24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Medición de relaciones entre variables estadísticas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7360" y="1154520"/>
            <a:ext cx="1762560" cy="14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5400" y="901080"/>
            <a:ext cx="2116800" cy="1566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5400" y="1031040"/>
            <a:ext cx="1715760" cy="328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/>
        </p:nvSpPr>
        <p:spPr>
          <a:xfrm>
            <a:off x="447480" y="332280"/>
            <a:ext cx="40726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30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Estadística descriptiva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447480" y="1062000"/>
            <a:ext cx="2194920" cy="450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Variables estadísticas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056840" y="3244320"/>
            <a:ext cx="509004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47480" y="1942200"/>
            <a:ext cx="2721600" cy="593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Distribución de frecuencias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886560" y="1942200"/>
            <a:ext cx="5090040" cy="593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ordenamiento de datos en tabla de frecuencia y clasificación en intervalos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06880" y="2673000"/>
            <a:ext cx="3726720" cy="1838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72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Frecuencia relativa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Frecuencia absoluta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Frecuencia relativa acumulada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Frecuencia absoluta acumulada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892680" y="1086480"/>
            <a:ext cx="4386240" cy="5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la población y seleccionar la muestra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/>
        </p:nvSpPr>
        <p:spPr>
          <a:xfrm>
            <a:off x="220320" y="216000"/>
            <a:ext cx="3379680" cy="4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400" u="none" cap="none" strike="noStrike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Representaciones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-360000" y="604080"/>
            <a:ext cx="9144000" cy="835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760" lvl="0" marL="698400" marR="0" rtl="0" algn="just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●"/>
            </a:pPr>
            <a:r>
              <a:rPr b="1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Diagramas de barras</a:t>
            </a:r>
            <a:r>
              <a:rPr b="0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muestran los valores de las frecuencias absolutas sobre un sistema de ejes cartesianos, cuando la variable es discreta o cualitativa.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-339840" y="1356120"/>
            <a:ext cx="9051840" cy="803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760" lvl="0" marL="698400" marR="0" rtl="0" algn="just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●"/>
            </a:pPr>
            <a:r>
              <a:rPr b="1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Histogramas</a:t>
            </a:r>
            <a:r>
              <a:rPr b="0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formas especiales de diagramas de barras para distribuciones cuantitativas continuas.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-331560" y="2035080"/>
            <a:ext cx="8971560" cy="664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760" lvl="0" marL="698400" marR="0" rtl="0" algn="just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●"/>
            </a:pPr>
            <a:r>
              <a:rPr b="1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Polígonos de frecuencias</a:t>
            </a:r>
            <a:r>
              <a:rPr b="0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formados por líneas poligonales abiertas sobre un sistema de ejes cartesianos.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4320" y="2918880"/>
            <a:ext cx="2322360" cy="185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000" y="2979360"/>
            <a:ext cx="2800440" cy="1739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120" y="3020760"/>
            <a:ext cx="2692080" cy="165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920" y="2777040"/>
            <a:ext cx="1896840" cy="189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6800" y="3587040"/>
            <a:ext cx="3109320" cy="908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8560" y="2630880"/>
            <a:ext cx="3440880" cy="18457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219600" y="244440"/>
            <a:ext cx="8229240" cy="664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760" lvl="0" marL="698400" marR="0" rtl="0" algn="just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●"/>
            </a:pPr>
            <a:r>
              <a:rPr b="1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Gráficos de sectores</a:t>
            </a:r>
            <a:r>
              <a:rPr b="0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circulares o de tarta, dividen un círculo en porciones proporcionales según el valor de las frecuencias relativas.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02680" y="964440"/>
            <a:ext cx="8541000" cy="664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760" lvl="0" marL="698400" marR="0" rtl="0" algn="just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●"/>
            </a:pPr>
            <a:r>
              <a:rPr b="1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Pictogramas</a:t>
            </a:r>
            <a:r>
              <a:rPr b="0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o representaciones visuales figurativas. En realidad son diagramas de barras en los que las barras se sustituyen con dibujos alusivos a la variable.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02680" y="1720440"/>
            <a:ext cx="8692200" cy="664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760" lvl="0" marL="698400" marR="0" rtl="0" algn="just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●"/>
            </a:pPr>
            <a:r>
              <a:rPr b="1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Pirámides de población</a:t>
            </a:r>
            <a:r>
              <a:rPr b="0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para clasificaciones de grupos de población por sexo y edad.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9160" y="2020320"/>
            <a:ext cx="3042720" cy="228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5520" y="2224440"/>
            <a:ext cx="3042720" cy="2028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314640" y="520920"/>
            <a:ext cx="8271000" cy="664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760" lvl="0" marL="698400" marR="0" rtl="0" algn="just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●"/>
            </a:pPr>
            <a:r>
              <a:rPr b="1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Diagramas de distribución</a:t>
            </a:r>
            <a:r>
              <a:rPr b="0" i="0" lang="es-419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el gráfico de cajas y bigotes, y el gráfico de violín muestran la distribución de los puntos dentro de grupos o intervalos con la mediana y los cuartiles.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428400" y="365760"/>
            <a:ext cx="5042520" cy="655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30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Medidas de una distribución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00480" y="1224720"/>
            <a:ext cx="408816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0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Medidas de centralización: Media, mediana, moda, cuartiles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469120" y="1224720"/>
            <a:ext cx="2947320" cy="873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0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Medidas de dispersión: Desviación y varianza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480" y="2370600"/>
            <a:ext cx="3445200" cy="2292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600" y="2308320"/>
            <a:ext cx="2755440" cy="2176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/>
        </p:nvSpPr>
        <p:spPr>
          <a:xfrm>
            <a:off x="436320" y="310320"/>
            <a:ext cx="5059080" cy="675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30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Distribución de probabilidad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436320" y="973800"/>
            <a:ext cx="4135320" cy="473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3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Distribuciones discretas (uniforme, Binomial, Poisson)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120" y="1359720"/>
            <a:ext cx="2381040" cy="17902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/>
          <p:nvPr/>
        </p:nvSpPr>
        <p:spPr>
          <a:xfrm>
            <a:off x="436320" y="3210480"/>
            <a:ext cx="4529160" cy="473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3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Distribuciones continuas (Normal, Pearson, Student, Fisher)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9360" y="1505880"/>
            <a:ext cx="2808720" cy="1497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8360" y="1510560"/>
            <a:ext cx="2102760" cy="1488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20000" y="3674880"/>
            <a:ext cx="2221920" cy="11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84480" y="3674880"/>
            <a:ext cx="1994040" cy="996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/>
        </p:nvSpPr>
        <p:spPr>
          <a:xfrm>
            <a:off x="572040" y="598320"/>
            <a:ext cx="3752280" cy="698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30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Inferencia estadística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670680" y="1464840"/>
            <a:ext cx="3245040" cy="3263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Media muestral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Varianza muestral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Intervalos de confianza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Determinación del tamaño muestral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-1853" r="-1853" t="-3004"/>
          <a:stretch/>
        </p:blipFill>
        <p:spPr>
          <a:xfrm>
            <a:off x="3916440" y="1334160"/>
            <a:ext cx="4282560" cy="2521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/>
        </p:nvSpPr>
        <p:spPr>
          <a:xfrm>
            <a:off x="525240" y="448560"/>
            <a:ext cx="4066920" cy="589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30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Contraste de hipótesis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680" y="1693440"/>
            <a:ext cx="3952440" cy="207324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/>
          <p:nvPr/>
        </p:nvSpPr>
        <p:spPr>
          <a:xfrm>
            <a:off x="4838580" y="357120"/>
            <a:ext cx="4367400" cy="3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Plantear la hipótesis nula y alternativa.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Seleccionar el estadístico de prueba y definir el nivel de significancia. Si opta por una prueba paramétrica debe: a. Realizar una prueba sobre normalidad de ambos sets de datos. b. Realizar una prueba de igualdad de varianzas para luego elegir entre una prueba de hipótesis con varianzas iguales o diferentes.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Efectuar la prueba de hipótesis.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Tomar una decisión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 Conclusión estadística y práctica.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/>
          <p:nvPr/>
        </p:nvSpPr>
        <p:spPr>
          <a:xfrm>
            <a:off x="336600" y="140400"/>
            <a:ext cx="8308440" cy="42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prueba a realizar dependerá del tamaño de las muestras, de la homogeneidad de las varianzas y de la dependencia o no de las variables.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 las muestras a probar involucran a </a:t>
            </a:r>
            <a:r>
              <a:rPr b="1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más de 30 observaciones</a:t>
            </a: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se aplicará la prueba de Z, si las muestras a evaluar involucran un número de observaciones menor o igual que 30 se emplea la prueba de t de student. La fórmula de cálculo depende de si las varianzas son homogéneas o heterogéneas, si el número de observaciones es igual o diferente, o si son variables dependientes.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determinar la </a:t>
            </a:r>
            <a:r>
              <a:rPr b="1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homogeneidad de las varianzas</a:t>
            </a: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 utiliza un estimador de Fisher.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Cuando son </a:t>
            </a:r>
            <a:r>
              <a:rPr b="1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variables dependientes</a:t>
            </a: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se emplea la técnica de pruebas pareadas.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/>
          <p:nvPr/>
        </p:nvSpPr>
        <p:spPr>
          <a:xfrm>
            <a:off x="3056400" y="313200"/>
            <a:ext cx="5697000" cy="442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511560" y="1123200"/>
            <a:ext cx="8120520" cy="3471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7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Prueba W de </a:t>
            </a:r>
            <a:r>
              <a:rPr b="1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Shapiro-Wilk</a:t>
            </a: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para determinar la </a:t>
            </a:r>
            <a:r>
              <a:rPr b="1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normalidad </a:t>
            </a: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 set de datos.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272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prueba de </a:t>
            </a:r>
            <a:r>
              <a:rPr b="1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chi-cuadrado</a:t>
            </a: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 utiliza para probar si una muestra de datos proviene de una población con una </a:t>
            </a:r>
            <a:r>
              <a:rPr b="1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distribución</a:t>
            </a: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particular. La prueba no es válida para muestras pequeñas. La prueba de chi-cuadrado es una alternativa a las pruebas de bondad de ajuste de </a:t>
            </a:r>
            <a:r>
              <a:rPr b="1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Kolmogorov-Smirnov (K-S) y Anderson-Darling</a:t>
            </a: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las cuales solo pueden utilizarse con distribuciones continuas.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 rotWithShape="1">
          <a:blip r:embed="rId3">
            <a:alphaModFix/>
          </a:blip>
          <a:srcRect b="-3461" l="-2829" r="-2829" t="-2197"/>
          <a:stretch/>
        </p:blipFill>
        <p:spPr>
          <a:xfrm>
            <a:off x="2051640" y="201960"/>
            <a:ext cx="4782960" cy="48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4160" y="192240"/>
            <a:ext cx="6235920" cy="4758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680" y="392400"/>
            <a:ext cx="6131520" cy="437184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6"/>
          <p:cNvSpPr txBox="1"/>
          <p:nvPr/>
        </p:nvSpPr>
        <p:spPr>
          <a:xfrm>
            <a:off x="6566040" y="254880"/>
            <a:ext cx="2325960" cy="17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4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Esquema de selección de pruebas estadísticas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/>
        </p:nvSpPr>
        <p:spPr>
          <a:xfrm>
            <a:off x="6921000" y="304200"/>
            <a:ext cx="1943640" cy="2488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4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Esquema de selección de pruebas estadísticas para variable nominal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0" y="304200"/>
            <a:ext cx="6597360" cy="43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/>
        </p:nvSpPr>
        <p:spPr>
          <a:xfrm>
            <a:off x="6921000" y="406080"/>
            <a:ext cx="2025360" cy="2556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4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Esquema de selección de pruebas estadísticas para relación de variables</a:t>
            </a:r>
            <a:br>
              <a:rPr b="0" i="0" lang="es-419" sz="1800" u="none" cap="none" strike="noStrike"/>
            </a:b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920" y="482040"/>
            <a:ext cx="6539400" cy="401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6000" y="560520"/>
            <a:ext cx="2969280" cy="37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 txBox="1"/>
          <p:nvPr/>
        </p:nvSpPr>
        <p:spPr>
          <a:xfrm>
            <a:off x="324720" y="280800"/>
            <a:ext cx="2025360" cy="995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4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Nivel de significancia</a:t>
            </a:r>
            <a:br>
              <a:rPr b="0" i="0" lang="es-419" sz="1800" u="none" cap="none" strike="noStrike"/>
            </a:b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520" y="1386720"/>
            <a:ext cx="5333760" cy="279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/>
        </p:nvSpPr>
        <p:spPr>
          <a:xfrm>
            <a:off x="492840" y="499320"/>
            <a:ext cx="2959200" cy="708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30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Regresión lineal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492840" y="1258920"/>
            <a:ext cx="8053200" cy="3327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Se conoce como línea de regresión a la representación gráfica de la función que se ajusta a la nube de puntos del diagrama de dispersión.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040" y="2051280"/>
            <a:ext cx="7266240" cy="2611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 txBox="1"/>
          <p:nvPr/>
        </p:nvSpPr>
        <p:spPr>
          <a:xfrm>
            <a:off x="492840" y="1248840"/>
            <a:ext cx="8152200" cy="3366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1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Correlación</a:t>
            </a:r>
            <a:r>
              <a:rPr b="0" i="0" lang="es-419" sz="1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  				estudiar la correlación significa analizar 							hasta qué punto es significativa la 									dependencia de una variable con la otra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1" i="0" lang="es-419" sz="1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Coeficientes de			</a:t>
            </a:r>
            <a:r>
              <a:rPr b="0" i="0" lang="es-419" sz="1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el cociente entre la covarianza y las 								desviaciones típicas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1" i="0" lang="es-419" sz="1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 correlación lineal 	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1" i="0" lang="es-419" sz="1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Predicción					</a:t>
            </a:r>
            <a:r>
              <a:rPr b="0" i="0" lang="es-419" sz="1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significancia e inferencias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20840" y="247320"/>
            <a:ext cx="2959200" cy="708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3000" u="none" cap="none" strike="noStrike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Regresión lineal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